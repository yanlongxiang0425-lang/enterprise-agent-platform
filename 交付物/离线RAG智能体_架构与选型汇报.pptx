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overall_architecture.png"/><Relationship Id="rIdLayout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pipeline.png"/><Relationship Id="rIdLayout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sequence.png"/><Relationship Id="rIdLayout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deployment.png"/><Relationship Id="rIdLayout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00000" y="1200000"/>
            <a:ext cx="10500000" cy="900000"/>
          </a:xfrm>
          <a:prstGeom prst="roundRect">
            <a:avLst/>
          </a:prstGeom>
          <a:solidFill>
            <a:srgbClr val="0F172A"/>
          </a:solidFill>
          <a:ln w="16000">
            <a:solidFill>
              <a:srgbClr val="0F172A"/>
            </a:solidFill>
          </a:ln>
        </p:spPr>
        <p:txBody>
          <a:bodyPr wrap="square"/>
          <a:lstStyle/>
          <a:p>
            <a:r>
              <a:rPr lang="zh-CN" sz="3800" b="1">
                <a:solidFill>
                  <a:srgbClr val="FFFFFF"/>
                </a:solidFill>
              </a:rPr>
              <a:t>离线 RAG Agent 架构与技术选型</a:t>
            </a:r>
          </a:p>
        </p:txBody>
      </p:sp>
      <p:sp>
        <p:nvSpPr>
          <p:cNvPr id="3" name="Text 3"/>
          <p:cNvSpPr/>
          <p:nvPr/>
        </p:nvSpPr>
        <p:spPr>
          <a:xfrm>
            <a:off x="760000" y="2200000"/>
            <a:ext cx="10800000" cy="520000"/>
          </a:xfrm>
          <a:prstGeom prst="roundRect">
            <a:avLst/>
          </a:prstGeom>
          <a:solidFill>
            <a:srgbClr val="0F172A"/>
          </a:solidFill>
          <a:ln w="16000">
            <a:solidFill>
              <a:srgbClr val="0F172A"/>
            </a:solidFill>
          </a:ln>
        </p:spPr>
        <p:txBody>
          <a:bodyPr wrap="square"/>
          <a:lstStyle/>
          <a:p>
            <a:r>
              <a:rPr lang="zh-CN" sz="1800">
                <a:solidFill>
                  <a:srgbClr val="CBD5E1"/>
                </a:solidFill>
              </a:rPr>
              <a:t>Excel 行级字段填充 · PostgreSQL + pgvector · LangGraph 1.x · 内网离线部署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0000" y="350000"/>
            <a:ext cx="11200000" cy="52000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FFFFFF"/>
            </a:solidFill>
          </a:ln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</a:rPr>
              <a:t>需求复述</a:t>
            </a:r>
          </a:p>
        </p:txBody>
      </p:sp>
      <p:sp>
        <p:nvSpPr>
          <p:cNvPr id="3" name="Text 3"/>
          <p:cNvSpPr/>
          <p:nvPr/>
        </p:nvSpPr>
        <p:spPr>
          <a:xfrm>
            <a:off x="800000" y="1300000"/>
            <a:ext cx="11000000" cy="420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800">
                <a:solidFill>
                  <a:srgbClr val="111827"/>
                </a:solidFill>
              </a:rPr>
              <a:t>1. 离线构建：多格式文件解析、Excel 行级 chunk、向量化与写入。
2. 在线查询：字段值精确过滤、语义召回、结果融合、字段填充。
3. 内网单机虚机部署，不能访问外网，必须离线交付。
4. 前期 CPU 验证功能，确认模型后再选择 GPU。
5. 需要审计、脱敏、可观测、人工确认与错误样本回流。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0000" y="260000"/>
            <a:ext cx="11500000" cy="45000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FFFFFF"/>
            </a:solidFill>
          </a:ln>
        </p:spPr>
        <p:txBody>
          <a:bodyPr wrap="square"/>
          <a:lstStyle/>
          <a:p>
            <a:r>
              <a:rPr lang="zh-CN" sz="2600" b="1">
                <a:solidFill>
                  <a:srgbClr val="111827"/>
                </a:solidFill>
              </a:rPr>
              <a:t>总体技术架构</a:t>
            </a:r>
          </a:p>
        </p:txBody>
      </p:sp>
      <p:pic>
        <p:nvPicPr>
          <p:cNvPr id="3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00000" y="900000"/>
            <a:ext cx="1128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0000" y="260000"/>
            <a:ext cx="11500000" cy="45000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FFFFFF"/>
            </a:solidFill>
          </a:ln>
        </p:spPr>
        <p:txBody>
          <a:bodyPr wrap="square"/>
          <a:lstStyle/>
          <a:p>
            <a:r>
              <a:rPr lang="zh-CN" sz="2600" b="1">
                <a:solidFill>
                  <a:srgbClr val="111827"/>
                </a:solidFill>
              </a:rPr>
              <a:t>离线构建与在线查询流程</a:t>
            </a:r>
          </a:p>
        </p:txBody>
      </p:sp>
      <p:pic>
        <p:nvPicPr>
          <p:cNvPr id="3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00000" y="900000"/>
            <a:ext cx="1128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0000" y="260000"/>
            <a:ext cx="11500000" cy="45000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FFFFFF"/>
            </a:solidFill>
          </a:ln>
        </p:spPr>
        <p:txBody>
          <a:bodyPr wrap="square"/>
          <a:lstStyle/>
          <a:p>
            <a:r>
              <a:rPr lang="zh-CN" sz="2600" b="1">
                <a:solidFill>
                  <a:srgbClr val="111827"/>
                </a:solidFill>
              </a:rPr>
              <a:t>字段填充查询时序</a:t>
            </a:r>
          </a:p>
        </p:txBody>
      </p:sp>
      <p:pic>
        <p:nvPicPr>
          <p:cNvPr id="3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00000" y="900000"/>
            <a:ext cx="1128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0000" y="260000"/>
            <a:ext cx="11500000" cy="45000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FFFFFF"/>
            </a:solidFill>
          </a:ln>
        </p:spPr>
        <p:txBody>
          <a:bodyPr wrap="square"/>
          <a:lstStyle/>
          <a:p>
            <a:r>
              <a:rPr lang="zh-CN" sz="2600" b="1">
                <a:solidFill>
                  <a:srgbClr val="111827"/>
                </a:solidFill>
              </a:rPr>
              <a:t>单机虚拟机部署架构</a:t>
            </a:r>
          </a:p>
        </p:txBody>
      </p:sp>
      <p:pic>
        <p:nvPicPr>
          <p:cNvPr id="3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00000" y="900000"/>
            <a:ext cx="1128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0000" y="350000"/>
            <a:ext cx="11200000" cy="52000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FFFFFF"/>
            </a:solidFill>
          </a:ln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</a:rPr>
              <a:t>技术选型结论</a:t>
            </a:r>
          </a:p>
        </p:txBody>
      </p:sp>
      <p:sp>
        <p:nvSpPr>
          <p:cNvPr id="3" name="Text 3"/>
          <p:cNvSpPr/>
          <p:nvPr/>
        </p:nvSpPr>
        <p:spPr>
          <a:xfrm>
            <a:off x="800000" y="1300000"/>
            <a:ext cx="11000000" cy="420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800">
                <a:solidFill>
                  <a:srgbClr val="111827"/>
                </a:solidFill>
              </a:rPr>
              <a:t>• AI 核心：Python 3.11 + FastAPI + LangGraph 1.x + LangChain 1.x。
• 业务接入：Java 17 / Spring Boot 3.3.x。
• 存储：PostgreSQL 16 + pgvector 0.8，结构化字段优先。
• 模型：CPU llama.cpp + 7B GGUF；GPU vLLM + 14B/32B 量化模型。
• 离线交付：Docker 镜像、wheelhouse、模型权重、初始化 SQL。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0000" y="350000"/>
            <a:ext cx="11200000" cy="52000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FFFFFF"/>
            </a:solidFill>
          </a:ln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</a:rPr>
              <a:t>为什么第一阶段不引入 Elasticsearch</a:t>
            </a:r>
          </a:p>
        </p:txBody>
      </p:sp>
      <p:sp>
        <p:nvSpPr>
          <p:cNvPr id="3" name="Text 3"/>
          <p:cNvSpPr/>
          <p:nvPr/>
        </p:nvSpPr>
        <p:spPr>
          <a:xfrm>
            <a:off x="800000" y="1300000"/>
            <a:ext cx="11000000" cy="420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800">
                <a:solidFill>
                  <a:srgbClr val="111827"/>
                </a:solidFill>
              </a:rPr>
              <a:t>• 当前核心是 Excel 指定字段查找与同一行字段补全，不是大规模全文搜索。
• PostgreSQL 已覆盖 B-tree、JSONB GIN、pg_trgm、全文检索和 pgvector。
• 少一个组件，离线部署和运维复杂度显著下降。
• 后续出现复杂中文分词、高亮、聚合统计、高并发全文搜索时，再引入 ES/OpenSearch。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